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745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Quantum-Assisted PINNs for CFD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88036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C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When, why, and how a variational quantum layer changes PINN learning for PDEs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B7C9"/>
                </a:solidFill>
              </a:rPr>
              <a:t>WISER Global Quantum + AI 2026  ·  BQP Challenge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Team Entangled Minds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CBF2"/>
                </a:solidFill>
              </a:rPr>
              <a:t>Harshita Bai  ·  Ansh Goel  ·  Manoj Kumar Reddy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828800" cy="128016"/>
          </a:xfrm>
          <a:prstGeom prst="roundRect">
            <a:avLst>
              <a:gd name="adj" fmla="val 50000"/>
            </a:avLst>
          </a:prstGeom>
          <a:solidFill>
            <a:srgbClr val="17B7C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“does quantum win?” — but when, why &amp; how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replace the first hidden layer of a classical PINN with a variational quantum circuit (VQC), then characterise how that substitution changes the learning dynamics — rather than chasing a universal speed-up.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474720" cy="2926080"/>
          </a:xfrm>
          <a:prstGeom prst="roundRect">
            <a:avLst>
              <a:gd name="adj" fmla="val 2813"/>
            </a:avLst>
          </a:prstGeom>
          <a:solidFill>
            <a:srgbClr val="F3F2FB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880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B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which PDEs and circuit settings does the quantum layer actually change learning?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297680" y="2651760"/>
            <a:ext cx="3474720" cy="2926080"/>
          </a:xfrm>
          <a:prstGeom prst="roundRect">
            <a:avLst>
              <a:gd name="adj" fmla="val 2813"/>
            </a:avLst>
          </a:prstGeom>
          <a:solidFill>
            <a:srgbClr val="F3F2FB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2880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B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0" y="356616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mechanism — expressivity, frequency content, trainability — drives the difference?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46720" y="2651760"/>
            <a:ext cx="3474720" cy="2926080"/>
          </a:xfrm>
          <a:prstGeom prst="roundRect">
            <a:avLst>
              <a:gd name="adj" fmla="val 2813"/>
            </a:avLst>
          </a:prstGeom>
          <a:solidFill>
            <a:srgbClr val="F3F2FB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21040" y="2880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B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321040" y="356616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encoding, qubits and entanglement reshape training behaviour?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classical PINN to hybrid QAPINN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D5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PINN: </a:t>
            </a:r>
            <a:pPr indent="0" marL="0">
              <a:buNone/>
            </a:pPr>
            <a:r>
              <a:rPr lang="en-US" sz="155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 trained to satisfy a PDE by penalising its residual through automatic differentiation.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D5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QAPINN: </a:t>
            </a:r>
            <a:pPr indent="0" marL="0">
              <a:buNone/>
            </a:pPr>
            <a:r>
              <a:rPr lang="en-US" sz="155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coordinates (x,t) are encoded into a small quantum circuit; its measured outputs feed the classical read-out. Only the quantum block changes across the study.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1106424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pic>
        <p:nvPicPr>
          <p:cNvPr id="7" name="Image 0" descr="/sessions/jolly-amazing-galileo/mnt/Documentation/circuit_figures/qapinn_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3108960"/>
            <a:ext cx="105156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PDE benchmarks of rising complexity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74720" cy="4206240"/>
          </a:xfrm>
          <a:prstGeom prst="roundRect">
            <a:avLst>
              <a:gd name="adj" fmla="val 2368"/>
            </a:avLst>
          </a:prstGeom>
          <a:solidFill>
            <a:srgbClr val="F3F2FB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17B7C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 Burgers’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5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convective–diffusive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benchmark — sharp gradient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474720" cy="4206240"/>
          </a:xfrm>
          <a:prstGeom prst="roundRect">
            <a:avLst>
              <a:gd name="adj" fmla="val 2368"/>
            </a:avLst>
          </a:prstGeom>
          <a:solidFill>
            <a:srgbClr val="F3F2FB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7830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6D5FD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0" y="2788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 Heat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34747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5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diffusion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11480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generalisation check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1554480"/>
            <a:ext cx="3474720" cy="4206240"/>
          </a:xfrm>
          <a:prstGeom prst="roundRect">
            <a:avLst>
              <a:gd name="adj" fmla="val 2368"/>
            </a:avLst>
          </a:prstGeom>
          <a:solidFill>
            <a:srgbClr val="F3F2FB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17830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E08A00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321040" y="2788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 Navier–Stokes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21040" y="34747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5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Kovasznay flow, Re = 40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411480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Coupled vector-valued stress test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verified analytically (Cole–Hopf, separation of variables, exact Kovasznay) and cross-checked with SymPy.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controlled experiment matrix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architecturally-identical configurations (~2,100–2,450 trainable parameters each), run identically across all three PDEs.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F3F2FB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402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8072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PINN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19125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baseline (FC 25-25-25-25)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205740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F3F2FB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22402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B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26280" y="28072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qubits · angle · basic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319125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reliable default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205740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F3F2FB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75320" y="22402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B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75320" y="28072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qubits · angle · basic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75320" y="319125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test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F3F2FB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4114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B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77240" y="468172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qubits · angle · basic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506577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widest circuit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97680" y="393192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F3F2FB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26280" y="4114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B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526280" y="468172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qubits · re-upload · basic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26280" y="506577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expressivity lever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46720" y="393192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F3F2FB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75320" y="4114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B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275320" y="468172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qubits · angle · strongly-ent.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75320" y="506577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richest entanglement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AXIS 1 — ENCODING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data enters: angle vs re-upload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sets which Fourier frequencies the circuit can represent. Angle encodes (x,t) once; re-upload re-injects it before every layer for a wider spectrum.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5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— encoded once</a:t>
            </a:r>
            <a:endParaRPr lang="en-US" sz="1400" dirty="0"/>
          </a:p>
        </p:txBody>
      </p:sp>
      <p:pic>
        <p:nvPicPr>
          <p:cNvPr id="6" name="Image 0" descr="/sessions/jolly-amazing-galileo/mnt/Documentation/circuit_figures/encoding_ang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514600"/>
            <a:ext cx="5486400" cy="1737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0936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RE-UPLOAD — re-entered each layer</a:t>
            </a:r>
            <a:endParaRPr lang="en-US" sz="1400" dirty="0"/>
          </a:p>
        </p:txBody>
      </p:sp>
      <p:pic>
        <p:nvPicPr>
          <p:cNvPr id="8" name="Image 1" descr="/sessions/jolly-amazing-galileo/mnt/Documentation/circuit_figures/encoding_reuploa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2514600"/>
            <a:ext cx="5486400" cy="17373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457200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F3F2FB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22960" y="4800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 </a:t>
            </a:r>
            <a:pPr indent="0" marL="0">
              <a:buNone/>
            </a:pPr>
            <a:r>
              <a:rPr lang="en-US" sz="150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re-upload genuinely widens the spectrum (max freq 1.11 vs 0.64) — but wider expressivity did not translate into better accuracy. The simpler angle encoding was consistently preferred.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AXIS 2 — ENTANGLEMENT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qubits link: basic vs strongly-entangling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5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entangler (Q1–Q3)</a:t>
            </a:r>
            <a:endParaRPr lang="en-US" sz="1400" dirty="0"/>
          </a:p>
        </p:txBody>
      </p:sp>
      <p:pic>
        <p:nvPicPr>
          <p:cNvPr id="5" name="Image 0" descr="/sessions/jolly-amazing-galileo/mnt/Documentation/circuit_figures/ansatz_basi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5486400" cy="2194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STRONGLY-ENTANGLING (Q5)</a:t>
            </a:r>
            <a:endParaRPr lang="en-US" sz="1400" dirty="0"/>
          </a:p>
        </p:txBody>
      </p:sp>
      <p:pic>
        <p:nvPicPr>
          <p:cNvPr id="7" name="Image 1" descr="/sessions/jolly-amazing-galileo/mnt/Documentation/circuit_figures/ansatz_strongly_entangli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737360"/>
            <a:ext cx="5486400" cy="21945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29768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F3F2FB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22960" y="45262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 </a:t>
            </a:r>
            <a:pPr indent="0" marL="0">
              <a:buNone/>
            </a:pPr>
            <a:r>
              <a:rPr lang="en-US" sz="150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strongly-entangling ansatz (Q5) was the strongest single-seed performer on Burgers &amp; Heat — but its trainability is PDE-dependent (weights near-frozen on Burgers, active on Navier–Stokes). Powerful, but not a safe default.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 · NAVIER–STOKES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strongest confirmed quantum win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4023360"/>
          </a:xfrm>
          <a:prstGeom prst="roundRect">
            <a:avLst>
              <a:gd name="adj" fmla="val 2045"/>
            </a:avLst>
          </a:prstGeom>
          <a:solidFill>
            <a:srgbClr val="F3F2FB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945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7B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0358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QAPINN (Q3) relative L2 (u,v,p)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D5F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47731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PINN (C0) relative L2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0" y="1645920"/>
            <a:ext cx="566928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9659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5-qubit angle-encoded QAPINN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17920" y="256032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Welch’s t-test, Bonferroni-corrected α = 0.01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356616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0.0037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217920" y="457200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hardest, coupled 2D problem is where the quantum layer helped most — and where it was rigorously confirmed.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 · BURGERS’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accuracy — and a confirmed gain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3931920"/>
          </a:xfrm>
          <a:prstGeom prst="roundRect">
            <a:avLst>
              <a:gd name="adj" fmla="val 2308"/>
            </a:avLst>
          </a:prstGeom>
          <a:solidFill>
            <a:srgbClr val="F3F2FB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4688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7B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331012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relative L2 (best)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4160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3q · angle · strongly-ent.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566160" cy="3931920"/>
          </a:xfrm>
          <a:prstGeom prst="roundRect">
            <a:avLst>
              <a:gd name="adj" fmla="val 2308"/>
            </a:avLst>
          </a:prstGeom>
          <a:solidFill>
            <a:srgbClr val="F3F2FB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34840" y="24688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D5F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434840" y="331012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classical relative L2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34840" y="4160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566160" cy="3931920"/>
          </a:xfrm>
          <a:prstGeom prst="roundRect">
            <a:avLst>
              <a:gd name="adj" fmla="val 2308"/>
            </a:avLst>
          </a:prstGeom>
          <a:solidFill>
            <a:srgbClr val="F3F2FB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83880" y="24688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0.0092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183880" y="331012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significance (p)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83880" y="4160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3q · angle · basic — confirmed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gives the lowest error; Q1 is the only multi-seed-confirmed improvement over classical on the primary benchmark.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 · HEAT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classical still wins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3931920"/>
          </a:xfrm>
          <a:prstGeom prst="roundRect">
            <a:avLst>
              <a:gd name="adj" fmla="val 2093"/>
            </a:avLst>
          </a:prstGeom>
          <a:solidFill>
            <a:srgbClr val="F3F2FB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7B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0.0062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12724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QAPINN (Q5) relative L2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D5F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0.0039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477316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classical (wider net)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4864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965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Smooth = low-frequency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0" y="25603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heat solution is essentially a single Fourier mode. The small quantum circuit has enough expressivity, but a larger classical network — with more parameters — still edges it on raw accuracy.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41605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50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quantum advantage here is expressivity-per-parameter, not lower error.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· EXPRESSIVITY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expressive ≠ more accurate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Fourier-spectrum analysis of the circuits confirms re-uploading multiplies the accessible frequency components (Schuld et al.) — yet the widest-spectrum config (Q4) is never the best performer.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394960" cy="3017520"/>
          </a:xfrm>
          <a:prstGeom prst="roundRect">
            <a:avLst>
              <a:gd name="adj" fmla="val 2727"/>
            </a:avLst>
          </a:prstGeom>
          <a:solidFill>
            <a:srgbClr val="F3F2FB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5661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40740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re-upload max frequency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2743200"/>
            <a:ext cx="5394960" cy="3017520"/>
          </a:xfrm>
          <a:prstGeom prst="roundRect">
            <a:avLst>
              <a:gd name="adj" fmla="val 2727"/>
            </a:avLst>
          </a:prstGeom>
          <a:solidFill>
            <a:srgbClr val="F3F2FB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35661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D5F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492240" y="440740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configs max frequency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Expressivity is a capability, not a guarantee — the target PDE decides whether the extra frequencies are useful.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· TRAINABILITY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clearest mechanism: a trainability cliff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F3F2FB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Barren-plateau scan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7B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6.1–8.6×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35584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gradient-variance drop from 3 → 4 qubits, reproduced across all three PDEs with identical circuits.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64592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F3F2FB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874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Weight-movement (Q5)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0" y="2514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Navier–Stokes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7.30% — quantum layer active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3474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0" y="3474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5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3.33% — weights barely moved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4434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0" y="4434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3.45% — near-frozen circuit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5440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circuit, different training regime — purely a function of the PDE loss landscape.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design rule for problem-specific QAPINNs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932688"/>
          </a:xfrm>
          <a:prstGeom prst="roundRect">
            <a:avLst>
              <a:gd name="adj" fmla="val 8824"/>
            </a:avLst>
          </a:prstGeom>
          <a:solidFill>
            <a:srgbClr val="F3F2FB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9222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7B7C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92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728216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small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303520" y="1728216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qubits, angle, basic entangler — most reliably trainable, and the confirmed win on Burgers.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11064240" cy="932688"/>
          </a:xfrm>
          <a:prstGeom prst="roundRect">
            <a:avLst>
              <a:gd name="adj" fmla="val 8824"/>
            </a:avLst>
          </a:prstGeom>
          <a:solidFill>
            <a:srgbClr val="F3F2FB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87121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7B7C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71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280720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qubits only on evidence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03520" y="2807208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qubits buy expressivity but spend gradient-variance headroom.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58184"/>
            <a:ext cx="11064240" cy="932688"/>
          </a:xfrm>
          <a:prstGeom prst="roundRect">
            <a:avLst>
              <a:gd name="adj" fmla="val 8824"/>
            </a:avLst>
          </a:prstGeom>
          <a:solidFill>
            <a:srgbClr val="F3F2FB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95020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7B7C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50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38862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 strong entanglement by default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303520" y="388620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weight-movement early; if near-frozen, simplify the ansatz.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837176"/>
            <a:ext cx="11064240" cy="932688"/>
          </a:xfrm>
          <a:prstGeom prst="roundRect">
            <a:avLst>
              <a:gd name="adj" fmla="val 8824"/>
            </a:avLst>
          </a:prstGeom>
          <a:solidFill>
            <a:srgbClr val="F3F2FB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0292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7B7C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54480" y="496519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re-upload selectively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5303520" y="4965192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the problem specifically needs wider frequency content.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&amp; OUTLOOK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where we go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Burgers multi-seed sweep runtime-interrupted; some wins single-seed only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results are single-seed (no Stage-C test)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Navier–Stokes confirmation covers C0 vs Q3 only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expectation-value ⟨Z⟩ measurement tested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9992C9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B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37960" y="237744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Higher-dimensional / full Navier–Stokes flows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Reservoir Computing as a third baseline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encodings, ansätze and optimisers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quantum hardware and noise-aware simulation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layers are a problem-specific tool,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5146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B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universal replacement for classical PINNs.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52044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C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Strongest, confirmed on the hardest 2D flow · expressivity gains that don’t always pay off · a clear trainability cliff · and a design rule to navigate 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937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Entangled Minds   ·   Harshita Bai · Ansh Goel · Manoj Kumar Reddy   —   WISER BQP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2026-08-06T17:15:10Z</dcterms:created>
  <dcterms:modified xsi:type="dcterms:W3CDTF">2026-08-06T17:15:10Z</dcterms:modified>
</cp:coreProperties>
</file>